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</p:sldIdLst>
  <p:sldSz cx="9144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Graphics</c:v>
                </c:pt>
              </c:strCache>
            </c:strRef>
          </c:tx>
          <c:spPr>
            <a:solidFill>
              <a:srgbClr val="3575EE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Brief</c:v>
                </c:pt>
                <c:pt idx="1">
                  <c:v>Create</c:v>
                </c:pt>
                <c:pt idx="2">
                  <c:v>Review</c:v>
                </c:pt>
                <c:pt idx="3">
                  <c:v>Deliver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5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Documents</c:v>
                </c:pt>
              </c:strCache>
            </c:strRef>
          </c:tx>
          <c:spPr>
            <a:solidFill>
              <a:srgbClr val="9CC6FA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Brief</c:v>
                </c:pt>
                <c:pt idx="1">
                  <c:v>Create</c:v>
                </c:pt>
                <c:pt idx="2">
                  <c:v>Review</c:v>
                </c:pt>
                <c:pt idx="3">
                  <c:v>Deliver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</c:ser>
        <c:gapWidth val="43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noFill/>
          <a:ln w="12700">
            <a:solidFill>
              <a:srgbClr val="92959C"/>
            </a:solidFill>
          </a:ln>
        </c:spPr>
        <c:txPr>
          <a:bodyPr/>
          <a:lstStyle/>
          <a:p>
            <a:pPr>
              <a:defRPr sz="1500" b="0">
                <a:solidFill>
                  <a:srgbClr val="6F737C"/>
                </a:solidFill>
                <a:latin typeface="Inter"/>
                <a:ea typeface="Inter"/>
                <a:cs typeface="Inter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10"/>
          <c:min val="0"/>
        </c:scaling>
        <c:delete val="0"/>
        <c:axPos val="l"/>
        <c:majorGridlines>
          <c:spPr>
            <a:ln w="9525">
              <a:solidFill>
                <a:srgbClr val="DCE2EE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/>
          <a:lstStyle/>
          <a:p>
            <a:pPr>
              <a:defRPr sz="1500" b="0">
                <a:solidFill>
                  <a:srgbClr val="6F737C"/>
                </a:solidFill>
                <a:latin typeface="Inter"/>
                <a:ea typeface="Inter"/>
                <a:cs typeface="Inter"/>
              </a:defRPr>
            </a:pPr>
            <a:endParaRPr lang="en-US"/>
          </a:p>
        </c:txPr>
        <c:crossAx val="111111111"/>
        <c:crosses val="autoZero"/>
        <c:crossBetween val="between"/>
        <c:majorUnit val="5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1500" b="0">
              <a:solidFill>
                <a:srgbClr val="252B39"/>
              </a:solidFill>
              <a:latin typeface="Inter"/>
              <a:ea typeface="Inter"/>
              <a:cs typeface="Inter"/>
            </a:defRPr>
          </a:pPr>
          <a:endParaRPr lang="en-US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sz="1500" b="0">
          <a:solidFill>
            <a:srgbClr val="252B39"/>
          </a:solidFill>
          <a:latin typeface="Inter"/>
          <a:ea typeface="Inter"/>
          <a:cs typeface="Inte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 kern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1500" y="428625"/>
            <a:ext cx="8001000" cy="1143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1714500"/>
            <a:ext cx="8001000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>
        <a:defRPr sz="2800" kern="1200">
          <a:solidFill>
            <a:schemeClr val="tx1"/>
          </a:solidFill>
          <a:latin typeface="+mn-lt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Chart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logo"/>
          <p:cNvGrpSpPr/>
          <p:nvPr/>
        </p:nvGrpSpPr>
        <p:grpSpPr>
          <a:xfrm>
            <a:off x="784860" y="403860"/>
            <a:ext cx="1173480" cy="502920"/>
            <a:chOff x="0" y="0"/>
            <a:chExt cx="1173480" cy="502920"/>
          </a:xfrm>
        </p:grpSpPr>
        <p:sp>
          <p:nvSpPr>
            <p:cNvPr id="2" name="logo-v"/>
            <p:cNvSpPr/>
            <p:nvPr/>
          </p:nvSpPr>
          <p:spPr>
            <a:xfrm>
              <a:off x="0" y="137160"/>
              <a:ext cx="381000" cy="365760"/>
            </a:xfrm>
            <a:custGeom>
              <a:avLst/>
              <a:gdLst/>
              <a:ahLst/>
              <a:cxnLst/>
              <a:rect l="0" t="0" r="r" b="b"/>
              <a:pathLst>
                <a:path w="5000" h="4800">
                  <a:moveTo>
                    <a:pt x="3" y="48"/>
                  </a:moveTo>
                  <a:lnTo>
                    <a:pt x="1380" y="48"/>
                  </a:lnTo>
                  <a:lnTo>
                    <a:pt x="2478" y="2938"/>
                  </a:lnTo>
                  <a:lnTo>
                    <a:pt x="3576" y="48"/>
                  </a:lnTo>
                  <a:lnTo>
                    <a:pt x="4953" y="48"/>
                  </a:lnTo>
                  <a:lnTo>
                    <a:pt x="3166" y="4750"/>
                  </a:lnTo>
                  <a:lnTo>
                    <a:pt x="1789" y="4750"/>
                  </a:lnTo>
                  <a:lnTo>
                    <a:pt x="3" y="48"/>
                  </a:lnTo>
                  <a:close/>
                </a:path>
              </a:pathLst>
            </a:custGeom>
            <a:solidFill>
              <a:srgbClr val="252B39"/>
            </a:solidFill>
            <a:ln>
              <a:noFill/>
            </a:ln>
          </p:spPr>
        </p:sp>
        <p:sp>
          <p:nvSpPr>
            <p:cNvPr id="3" name="logo-i stem"/>
            <p:cNvSpPr/>
            <p:nvPr/>
          </p:nvSpPr>
          <p:spPr>
            <a:xfrm>
              <a:off x="434340" y="137160"/>
              <a:ext cx="106680" cy="365760"/>
            </a:xfrm>
            <a:custGeom>
              <a:avLst/>
              <a:gdLst/>
              <a:ahLst/>
              <a:cxnLst/>
              <a:rect l="0" t="0" r="r" b="b"/>
              <a:pathLst>
                <a:path w="1400" h="4800">
                  <a:moveTo>
                    <a:pt x="94" y="48"/>
                  </a:moveTo>
                  <a:lnTo>
                    <a:pt x="1381" y="48"/>
                  </a:lnTo>
                  <a:lnTo>
                    <a:pt x="1381" y="4750"/>
                  </a:lnTo>
                  <a:lnTo>
                    <a:pt x="94" y="4750"/>
                  </a:lnTo>
                  <a:lnTo>
                    <a:pt x="94" y="48"/>
                  </a:lnTo>
                  <a:close/>
                </a:path>
              </a:pathLst>
            </a:custGeom>
            <a:solidFill>
              <a:srgbClr val="252B39"/>
            </a:solidFill>
            <a:ln>
              <a:noFill/>
            </a:ln>
          </p:spPr>
        </p:sp>
        <p:sp>
          <p:nvSpPr>
            <p:cNvPr id="4" name="logo-i dot"/>
            <p:cNvSpPr/>
            <p:nvPr/>
          </p:nvSpPr>
          <p:spPr>
            <a:xfrm>
              <a:off x="434340" y="0"/>
              <a:ext cx="106680" cy="106680"/>
            </a:xfrm>
            <a:custGeom>
              <a:avLst/>
              <a:gdLst/>
              <a:ahLst/>
              <a:cxnLst/>
              <a:rect l="0" t="0" r="r" b="b"/>
              <a:pathLst>
                <a:path w="1400" h="1400">
                  <a:moveTo>
                    <a:pt x="94" y="16"/>
                  </a:moveTo>
                  <a:lnTo>
                    <a:pt x="1381" y="16"/>
                  </a:lnTo>
                  <a:lnTo>
                    <a:pt x="1381" y="1303"/>
                  </a:lnTo>
                  <a:lnTo>
                    <a:pt x="94" y="1303"/>
                  </a:lnTo>
                  <a:lnTo>
                    <a:pt x="94" y="16"/>
                  </a:lnTo>
                  <a:close/>
                </a:path>
              </a:pathLst>
            </a:custGeom>
            <a:solidFill>
              <a:srgbClr val="252B39"/>
            </a:solidFill>
            <a:ln>
              <a:noFill/>
            </a:ln>
          </p:spPr>
        </p:sp>
        <p:sp>
          <p:nvSpPr>
            <p:cNvPr id="5" name="logo-x"/>
            <p:cNvSpPr/>
            <p:nvPr/>
          </p:nvSpPr>
          <p:spPr>
            <a:xfrm>
              <a:off x="601980" y="137160"/>
              <a:ext cx="365760" cy="182880"/>
            </a:xfrm>
            <a:custGeom>
              <a:avLst/>
              <a:gdLst/>
              <a:ahLst/>
              <a:cxnLst/>
              <a:rect l="0" t="0" r="r" b="b"/>
              <a:pathLst>
                <a:path w="4800" h="2400">
                  <a:moveTo>
                    <a:pt x="23" y="48"/>
                  </a:moveTo>
                  <a:lnTo>
                    <a:pt x="1572" y="48"/>
                  </a:lnTo>
                  <a:lnTo>
                    <a:pt x="2374" y="1244"/>
                  </a:lnTo>
                  <a:lnTo>
                    <a:pt x="3176" y="48"/>
                  </a:lnTo>
                  <a:lnTo>
                    <a:pt x="4725" y="48"/>
                  </a:lnTo>
                  <a:lnTo>
                    <a:pt x="3149" y="2399"/>
                  </a:lnTo>
                  <a:lnTo>
                    <a:pt x="1599" y="2399"/>
                  </a:lnTo>
                  <a:lnTo>
                    <a:pt x="23" y="48"/>
                  </a:lnTo>
                  <a:close/>
                </a:path>
              </a:pathLst>
            </a:custGeom>
            <a:solidFill>
              <a:srgbClr val="252B39"/>
            </a:solidFill>
            <a:ln>
              <a:noFill/>
            </a:ln>
          </p:spPr>
        </p:sp>
        <p:sp>
          <p:nvSpPr>
            <p:cNvPr id="6" name="logo-x reflection band 1"/>
            <p:cNvSpPr/>
            <p:nvPr/>
          </p:nvSpPr>
          <p:spPr>
            <a:xfrm>
              <a:off x="708660" y="312420"/>
              <a:ext cx="144780" cy="22860"/>
            </a:xfrm>
            <a:custGeom>
              <a:avLst/>
              <a:gdLst/>
              <a:ahLst/>
              <a:cxnLst/>
              <a:rect l="0" t="0" r="r" b="b"/>
              <a:pathLst>
                <a:path w="1900" h="300">
                  <a:moveTo>
                    <a:pt x="1873" y="284"/>
                  </a:moveTo>
                  <a:lnTo>
                    <a:pt x="1749" y="99"/>
                  </a:lnTo>
                  <a:lnTo>
                    <a:pt x="199" y="99"/>
                  </a:lnTo>
                  <a:lnTo>
                    <a:pt x="75" y="284"/>
                  </a:lnTo>
                  <a:lnTo>
                    <a:pt x="1873" y="284"/>
                  </a:lnTo>
                  <a:close/>
                </a:path>
              </a:pathLst>
            </a:custGeom>
            <a:solidFill>
              <a:srgbClr val="3575EE"/>
            </a:solidFill>
            <a:ln>
              <a:noFill/>
            </a:ln>
          </p:spPr>
        </p:sp>
        <p:sp>
          <p:nvSpPr>
            <p:cNvPr id="7" name="logo-x reflection band 2"/>
            <p:cNvSpPr/>
            <p:nvPr/>
          </p:nvSpPr>
          <p:spPr>
            <a:xfrm>
              <a:off x="723900" y="342900"/>
              <a:ext cx="175260" cy="22860"/>
            </a:xfrm>
            <a:custGeom>
              <a:avLst/>
              <a:gdLst/>
              <a:ahLst/>
              <a:cxnLst/>
              <a:rect l="0" t="0" r="r" b="b"/>
              <a:pathLst>
                <a:path w="2300" h="300">
                  <a:moveTo>
                    <a:pt x="2294" y="220"/>
                  </a:moveTo>
                  <a:lnTo>
                    <a:pt x="2170" y="35"/>
                  </a:lnTo>
                  <a:lnTo>
                    <a:pt x="170" y="35"/>
                  </a:lnTo>
                  <a:lnTo>
                    <a:pt x="46" y="220"/>
                  </a:lnTo>
                  <a:lnTo>
                    <a:pt x="2294" y="220"/>
                  </a:lnTo>
                  <a:close/>
                </a:path>
              </a:pathLst>
            </a:custGeom>
            <a:solidFill>
              <a:srgbClr val="3575EE"/>
            </a:solidFill>
            <a:ln>
              <a:noFill/>
            </a:ln>
          </p:spPr>
        </p:sp>
        <p:sp>
          <p:nvSpPr>
            <p:cNvPr id="8" name="logo-x reflection band 3"/>
            <p:cNvSpPr/>
            <p:nvPr/>
          </p:nvSpPr>
          <p:spPr>
            <a:xfrm>
              <a:off x="647700" y="365760"/>
              <a:ext cx="213360" cy="22860"/>
            </a:xfrm>
            <a:custGeom>
              <a:avLst/>
              <a:gdLst/>
              <a:ahLst/>
              <a:cxnLst/>
              <a:rect l="0" t="0" r="r" b="b"/>
              <a:pathLst>
                <a:path w="2800" h="300">
                  <a:moveTo>
                    <a:pt x="2777" y="256"/>
                  </a:moveTo>
                  <a:lnTo>
                    <a:pt x="2653" y="71"/>
                  </a:lnTo>
                  <a:lnTo>
                    <a:pt x="202" y="71"/>
                  </a:lnTo>
                  <a:lnTo>
                    <a:pt x="79" y="256"/>
                  </a:lnTo>
                  <a:lnTo>
                    <a:pt x="2777" y="256"/>
                  </a:lnTo>
                  <a:close/>
                </a:path>
              </a:pathLst>
            </a:custGeom>
            <a:solidFill>
              <a:srgbClr val="5B8FF5"/>
            </a:solidFill>
            <a:ln>
              <a:noFill/>
            </a:ln>
          </p:spPr>
        </p:sp>
        <p:sp>
          <p:nvSpPr>
            <p:cNvPr id="9" name="logo-x reflection band 4"/>
            <p:cNvSpPr/>
            <p:nvPr/>
          </p:nvSpPr>
          <p:spPr>
            <a:xfrm>
              <a:off x="701040" y="396240"/>
              <a:ext cx="243840" cy="15240"/>
            </a:xfrm>
            <a:custGeom>
              <a:avLst/>
              <a:gdLst/>
              <a:ahLst/>
              <a:cxnLst/>
              <a:rect l="0" t="0" r="r" b="b"/>
              <a:pathLst>
                <a:path w="3200" h="200">
                  <a:moveTo>
                    <a:pt x="1594" y="191"/>
                  </a:moveTo>
                  <a:lnTo>
                    <a:pt x="1618" y="154"/>
                  </a:lnTo>
                  <a:lnTo>
                    <a:pt x="1643" y="191"/>
                  </a:lnTo>
                  <a:lnTo>
                    <a:pt x="3193" y="191"/>
                  </a:lnTo>
                  <a:lnTo>
                    <a:pt x="3069" y="7"/>
                  </a:lnTo>
                  <a:lnTo>
                    <a:pt x="168" y="7"/>
                  </a:lnTo>
                  <a:lnTo>
                    <a:pt x="44" y="191"/>
                  </a:lnTo>
                  <a:lnTo>
                    <a:pt x="1594" y="191"/>
                  </a:lnTo>
                  <a:close/>
                </a:path>
              </a:pathLst>
            </a:custGeom>
            <a:solidFill>
              <a:srgbClr val="5B8FF5"/>
            </a:solidFill>
            <a:ln>
              <a:noFill/>
            </a:ln>
          </p:spPr>
        </p:sp>
        <p:sp>
          <p:nvSpPr>
            <p:cNvPr id="10" name="logo-x reflection band 5"/>
            <p:cNvSpPr/>
            <p:nvPr/>
          </p:nvSpPr>
          <p:spPr>
            <a:xfrm>
              <a:off x="609600" y="419100"/>
              <a:ext cx="281940" cy="22860"/>
            </a:xfrm>
            <a:custGeom>
              <a:avLst/>
              <a:gdLst/>
              <a:ahLst/>
              <a:cxnLst/>
              <a:rect l="0" t="0" r="r" b="b"/>
              <a:pathLst>
                <a:path w="3700" h="300">
                  <a:moveTo>
                    <a:pt x="1579" y="228"/>
                  </a:moveTo>
                  <a:lnTo>
                    <a:pt x="1703" y="43"/>
                  </a:lnTo>
                  <a:lnTo>
                    <a:pt x="1955" y="43"/>
                  </a:lnTo>
                  <a:lnTo>
                    <a:pt x="2079" y="228"/>
                  </a:lnTo>
                  <a:lnTo>
                    <a:pt x="3628" y="228"/>
                  </a:lnTo>
                  <a:lnTo>
                    <a:pt x="3504" y="43"/>
                  </a:lnTo>
                  <a:lnTo>
                    <a:pt x="153" y="43"/>
                  </a:lnTo>
                  <a:lnTo>
                    <a:pt x="29" y="228"/>
                  </a:lnTo>
                  <a:lnTo>
                    <a:pt x="1579" y="228"/>
                  </a:lnTo>
                  <a:close/>
                </a:path>
              </a:pathLst>
            </a:custGeom>
            <a:solidFill>
              <a:srgbClr val="6A9AFF"/>
            </a:solidFill>
            <a:ln>
              <a:noFill/>
            </a:ln>
          </p:spPr>
        </p:sp>
        <p:sp>
          <p:nvSpPr>
            <p:cNvPr id="11" name="logo-x reflection band 6"/>
            <p:cNvSpPr/>
            <p:nvPr/>
          </p:nvSpPr>
          <p:spPr>
            <a:xfrm>
              <a:off x="670560" y="441960"/>
              <a:ext cx="320040" cy="22860"/>
            </a:xfrm>
            <a:custGeom>
              <a:avLst/>
              <a:gdLst/>
              <a:ahLst/>
              <a:cxnLst/>
              <a:rect l="0" t="0" r="r" b="b"/>
              <a:pathLst>
                <a:path w="4200" h="300">
                  <a:moveTo>
                    <a:pt x="1642" y="263"/>
                  </a:moveTo>
                  <a:lnTo>
                    <a:pt x="1766" y="79"/>
                  </a:lnTo>
                  <a:lnTo>
                    <a:pt x="2469" y="79"/>
                  </a:lnTo>
                  <a:lnTo>
                    <a:pt x="2593" y="263"/>
                  </a:lnTo>
                  <a:lnTo>
                    <a:pt x="4142" y="263"/>
                  </a:lnTo>
                  <a:lnTo>
                    <a:pt x="4018" y="79"/>
                  </a:lnTo>
                  <a:lnTo>
                    <a:pt x="217" y="79"/>
                  </a:lnTo>
                  <a:lnTo>
                    <a:pt x="93" y="263"/>
                  </a:lnTo>
                  <a:lnTo>
                    <a:pt x="1642" y="263"/>
                  </a:lnTo>
                  <a:close/>
                </a:path>
              </a:pathLst>
            </a:custGeom>
            <a:solidFill>
              <a:srgbClr val="6A9AFF"/>
            </a:solidFill>
            <a:ln>
              <a:noFill/>
            </a:ln>
          </p:spPr>
        </p:sp>
        <p:sp>
          <p:nvSpPr>
            <p:cNvPr id="12" name="logo-x reflection band 7"/>
            <p:cNvSpPr/>
            <p:nvPr/>
          </p:nvSpPr>
          <p:spPr>
            <a:xfrm>
              <a:off x="586740" y="472440"/>
              <a:ext cx="350520" cy="15240"/>
            </a:xfrm>
            <a:custGeom>
              <a:avLst/>
              <a:gdLst/>
              <a:ahLst/>
              <a:cxnLst/>
              <a:rect l="0" t="0" r="r" b="b"/>
              <a:pathLst>
                <a:path w="4600" h="200">
                  <a:moveTo>
                    <a:pt x="1626" y="199"/>
                  </a:moveTo>
                  <a:lnTo>
                    <a:pt x="1750" y="14"/>
                  </a:lnTo>
                  <a:lnTo>
                    <a:pt x="2903" y="14"/>
                  </a:lnTo>
                  <a:lnTo>
                    <a:pt x="3027" y="199"/>
                  </a:lnTo>
                  <a:lnTo>
                    <a:pt x="4576" y="199"/>
                  </a:lnTo>
                  <a:lnTo>
                    <a:pt x="4453" y="14"/>
                  </a:lnTo>
                  <a:lnTo>
                    <a:pt x="201" y="14"/>
                  </a:lnTo>
                  <a:lnTo>
                    <a:pt x="77" y="199"/>
                  </a:lnTo>
                  <a:lnTo>
                    <a:pt x="1626" y="199"/>
                  </a:lnTo>
                  <a:close/>
                </a:path>
              </a:pathLst>
            </a:custGeom>
            <a:solidFill>
              <a:srgbClr val="A9C4FF"/>
            </a:solidFill>
            <a:ln>
              <a:noFill/>
            </a:ln>
          </p:spPr>
        </p:sp>
        <p:sp>
          <p:nvSpPr>
            <p:cNvPr id="13" name="logo-l"/>
            <p:cNvSpPr/>
            <p:nvPr/>
          </p:nvSpPr>
          <p:spPr>
            <a:xfrm>
              <a:off x="1021080" y="0"/>
              <a:ext cx="106680" cy="320040"/>
            </a:xfrm>
            <a:custGeom>
              <a:avLst/>
              <a:gdLst/>
              <a:ahLst/>
              <a:cxnLst/>
              <a:rect l="0" t="0" r="r" b="b"/>
              <a:pathLst>
                <a:path w="1400" h="4200">
                  <a:moveTo>
                    <a:pt x="67" y="16"/>
                  </a:moveTo>
                  <a:lnTo>
                    <a:pt x="1354" y="16"/>
                  </a:lnTo>
                  <a:lnTo>
                    <a:pt x="1354" y="4199"/>
                  </a:lnTo>
                  <a:lnTo>
                    <a:pt x="67" y="4199"/>
                  </a:lnTo>
                  <a:lnTo>
                    <a:pt x="67" y="16"/>
                  </a:lnTo>
                  <a:close/>
                </a:path>
              </a:pathLst>
            </a:custGeom>
            <a:solidFill>
              <a:srgbClr val="252B39"/>
            </a:solidFill>
            <a:ln>
              <a:noFill/>
            </a:ln>
          </p:spPr>
        </p:sp>
        <p:sp>
          <p:nvSpPr>
            <p:cNvPr id="14" name="logo-l reflection band 1"/>
            <p:cNvSpPr/>
            <p:nvPr/>
          </p:nvSpPr>
          <p:spPr>
            <a:xfrm>
              <a:off x="1021080" y="312420"/>
              <a:ext cx="106680" cy="22860"/>
            </a:xfrm>
            <a:custGeom>
              <a:avLst/>
              <a:gdLst/>
              <a:ahLst/>
              <a:cxnLst/>
              <a:rect l="0" t="0" r="r" b="b"/>
              <a:pathLst>
                <a:path w="1400" h="300">
                  <a:moveTo>
                    <a:pt x="67" y="99"/>
                  </a:moveTo>
                  <a:lnTo>
                    <a:pt x="1354" y="99"/>
                  </a:lnTo>
                  <a:lnTo>
                    <a:pt x="1354" y="284"/>
                  </a:lnTo>
                  <a:lnTo>
                    <a:pt x="67" y="284"/>
                  </a:lnTo>
                  <a:lnTo>
                    <a:pt x="67" y="99"/>
                  </a:lnTo>
                  <a:close/>
                </a:path>
              </a:pathLst>
            </a:custGeom>
            <a:solidFill>
              <a:srgbClr val="3575EE"/>
            </a:solidFill>
            <a:ln>
              <a:noFill/>
            </a:ln>
          </p:spPr>
        </p:sp>
        <p:sp>
          <p:nvSpPr>
            <p:cNvPr id="15" name="logo-l reflection band 2"/>
            <p:cNvSpPr/>
            <p:nvPr/>
          </p:nvSpPr>
          <p:spPr>
            <a:xfrm>
              <a:off x="1051560" y="342900"/>
              <a:ext cx="106680" cy="22860"/>
            </a:xfrm>
            <a:custGeom>
              <a:avLst/>
              <a:gdLst/>
              <a:ahLst/>
              <a:cxnLst/>
              <a:rect l="0" t="0" r="r" b="b"/>
              <a:pathLst>
                <a:path w="1400" h="300">
                  <a:moveTo>
                    <a:pt x="1350" y="35"/>
                  </a:moveTo>
                  <a:lnTo>
                    <a:pt x="1350" y="220"/>
                  </a:lnTo>
                  <a:lnTo>
                    <a:pt x="63" y="220"/>
                  </a:lnTo>
                  <a:lnTo>
                    <a:pt x="63" y="35"/>
                  </a:lnTo>
                  <a:lnTo>
                    <a:pt x="1350" y="35"/>
                  </a:lnTo>
                  <a:close/>
                </a:path>
              </a:pathLst>
            </a:custGeom>
            <a:solidFill>
              <a:srgbClr val="3575EE"/>
            </a:solidFill>
            <a:ln>
              <a:noFill/>
            </a:ln>
          </p:spPr>
        </p:sp>
        <p:sp>
          <p:nvSpPr>
            <p:cNvPr id="16" name="logo-l reflection band 3"/>
            <p:cNvSpPr/>
            <p:nvPr/>
          </p:nvSpPr>
          <p:spPr>
            <a:xfrm>
              <a:off x="998220" y="365760"/>
              <a:ext cx="106680" cy="22860"/>
            </a:xfrm>
            <a:custGeom>
              <a:avLst/>
              <a:gdLst/>
              <a:ahLst/>
              <a:cxnLst/>
              <a:rect l="0" t="0" r="r" b="b"/>
              <a:pathLst>
                <a:path w="1400" h="300">
                  <a:moveTo>
                    <a:pt x="1307" y="71"/>
                  </a:moveTo>
                  <a:lnTo>
                    <a:pt x="1307" y="256"/>
                  </a:lnTo>
                  <a:lnTo>
                    <a:pt x="20" y="256"/>
                  </a:lnTo>
                  <a:lnTo>
                    <a:pt x="20" y="71"/>
                  </a:lnTo>
                  <a:lnTo>
                    <a:pt x="1307" y="71"/>
                  </a:lnTo>
                  <a:close/>
                </a:path>
              </a:pathLst>
            </a:custGeom>
            <a:solidFill>
              <a:srgbClr val="5B8FF5"/>
            </a:solidFill>
            <a:ln>
              <a:noFill/>
            </a:ln>
          </p:spPr>
        </p:sp>
        <p:sp>
          <p:nvSpPr>
            <p:cNvPr id="17" name="logo-l reflection band 4"/>
            <p:cNvSpPr/>
            <p:nvPr/>
          </p:nvSpPr>
          <p:spPr>
            <a:xfrm>
              <a:off x="1066800" y="396240"/>
              <a:ext cx="99060" cy="15240"/>
            </a:xfrm>
            <a:custGeom>
              <a:avLst/>
              <a:gdLst/>
              <a:ahLst/>
              <a:cxnLst/>
              <a:rect l="0" t="0" r="r" b="b"/>
              <a:pathLst>
                <a:path w="1300" h="200">
                  <a:moveTo>
                    <a:pt x="1298" y="7"/>
                  </a:moveTo>
                  <a:lnTo>
                    <a:pt x="1298" y="191"/>
                  </a:lnTo>
                  <a:lnTo>
                    <a:pt x="11" y="191"/>
                  </a:lnTo>
                  <a:lnTo>
                    <a:pt x="11" y="7"/>
                  </a:lnTo>
                  <a:lnTo>
                    <a:pt x="1298" y="7"/>
                  </a:lnTo>
                  <a:close/>
                </a:path>
              </a:pathLst>
            </a:custGeom>
            <a:solidFill>
              <a:srgbClr val="5B8FF5"/>
            </a:solidFill>
            <a:ln>
              <a:noFill/>
            </a:ln>
          </p:spPr>
        </p:sp>
        <p:sp>
          <p:nvSpPr>
            <p:cNvPr id="18" name="logo-l reflection band 5"/>
            <p:cNvSpPr/>
            <p:nvPr/>
          </p:nvSpPr>
          <p:spPr>
            <a:xfrm>
              <a:off x="990600" y="419100"/>
              <a:ext cx="106680" cy="22860"/>
            </a:xfrm>
            <a:custGeom>
              <a:avLst/>
              <a:gdLst/>
              <a:ahLst/>
              <a:cxnLst/>
              <a:rect l="0" t="0" r="r" b="b"/>
              <a:pathLst>
                <a:path w="1400" h="300">
                  <a:moveTo>
                    <a:pt x="1308" y="43"/>
                  </a:moveTo>
                  <a:lnTo>
                    <a:pt x="1308" y="228"/>
                  </a:lnTo>
                  <a:lnTo>
                    <a:pt x="21" y="228"/>
                  </a:lnTo>
                  <a:lnTo>
                    <a:pt x="21" y="43"/>
                  </a:lnTo>
                  <a:lnTo>
                    <a:pt x="1308" y="43"/>
                  </a:lnTo>
                  <a:close/>
                </a:path>
              </a:pathLst>
            </a:custGeom>
            <a:solidFill>
              <a:srgbClr val="6A9AFF"/>
            </a:solidFill>
            <a:ln>
              <a:noFill/>
            </a:ln>
          </p:spPr>
        </p:sp>
        <p:sp>
          <p:nvSpPr>
            <p:cNvPr id="19" name="logo-l reflection band 6"/>
            <p:cNvSpPr/>
            <p:nvPr/>
          </p:nvSpPr>
          <p:spPr>
            <a:xfrm>
              <a:off x="1074420" y="441960"/>
              <a:ext cx="99060" cy="22860"/>
            </a:xfrm>
            <a:custGeom>
              <a:avLst/>
              <a:gdLst/>
              <a:ahLst/>
              <a:cxnLst/>
              <a:rect l="0" t="0" r="r" b="b"/>
              <a:pathLst>
                <a:path w="1300" h="300">
                  <a:moveTo>
                    <a:pt x="1297" y="79"/>
                  </a:moveTo>
                  <a:lnTo>
                    <a:pt x="1297" y="263"/>
                  </a:lnTo>
                  <a:lnTo>
                    <a:pt x="10" y="263"/>
                  </a:lnTo>
                  <a:lnTo>
                    <a:pt x="10" y="79"/>
                  </a:lnTo>
                  <a:lnTo>
                    <a:pt x="1297" y="79"/>
                  </a:lnTo>
                  <a:close/>
                </a:path>
              </a:pathLst>
            </a:custGeom>
            <a:solidFill>
              <a:srgbClr val="6A9AFF"/>
            </a:solidFill>
            <a:ln>
              <a:noFill/>
            </a:ln>
          </p:spPr>
        </p:sp>
        <p:sp>
          <p:nvSpPr>
            <p:cNvPr id="20" name="logo-l reflection band 7"/>
            <p:cNvSpPr/>
            <p:nvPr/>
          </p:nvSpPr>
          <p:spPr>
            <a:xfrm>
              <a:off x="1005840" y="472440"/>
              <a:ext cx="106680" cy="15240"/>
            </a:xfrm>
            <a:custGeom>
              <a:avLst/>
              <a:gdLst/>
              <a:ahLst/>
              <a:cxnLst/>
              <a:rect l="0" t="0" r="r" b="b"/>
              <a:pathLst>
                <a:path w="1400" h="200">
                  <a:moveTo>
                    <a:pt x="1306" y="14"/>
                  </a:moveTo>
                  <a:lnTo>
                    <a:pt x="1306" y="199"/>
                  </a:lnTo>
                  <a:lnTo>
                    <a:pt x="19" y="199"/>
                  </a:lnTo>
                  <a:lnTo>
                    <a:pt x="19" y="14"/>
                  </a:lnTo>
                  <a:lnTo>
                    <a:pt x="1306" y="14"/>
                  </a:lnTo>
                  <a:close/>
                </a:path>
              </a:pathLst>
            </a:custGeom>
            <a:solidFill>
              <a:srgbClr val="A9C4FF"/>
            </a:solidFill>
            <a:ln>
              <a:noFill/>
            </a:ln>
          </p:spPr>
        </p:sp>
      </p:grpSp>
      <p:sp>
        <p:nvSpPr>
          <p:cNvPr id="22" name="kicker"/>
          <p:cNvSpPr txBox="1"/>
          <p:nvPr/>
        </p:nvSpPr>
        <p:spPr>
          <a:xfrm>
            <a:off x="533400" y="1259616"/>
            <a:ext cx="3295650" cy="21866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81"/>
              </a:lnSpc>
              <a:buNone/>
            </a:pPr>
            <a:r>
              <a:rPr lang="en-US" sz="1440" dirty="0">
                <a:solidFill>
                  <a:srgbClr val="5B6478"/>
                </a:solidFill>
                <a:latin typeface="JetBrains Mono"/>
                <a:ea typeface="JetBrains Mono"/>
                <a:cs typeface="JetBrains Mono"/>
              </a:rPr>
              <a:t>DATA THAT STAYS EDITABLE</a:t>
            </a:r>
            <a:endParaRPr lang="en-US" sz="1440" dirty="0"/>
          </a:p>
        </p:txBody>
      </p:sp>
      <p:sp>
        <p:nvSpPr>
          <p:cNvPr id="23" name="headline"/>
          <p:cNvSpPr>
            <a:spLocks noGrp="1"/>
          </p:cNvSpPr>
          <p:nvPr>
            <p:ph type="title"/>
          </p:nvPr>
        </p:nvSpPr>
        <p:spPr>
          <a:xfrm>
            <a:off x="533400" y="1924941"/>
            <a:ext cx="5267325" cy="110019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3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80" b="1" dirty="0">
                <a:solidFill>
                  <a:srgbClr val="252B39"/>
                </a:solidFill>
                <a:latin typeface="Inter Tight"/>
                <a:ea typeface="Inter Tight"/>
                <a:cs typeface="Inter Tight"/>
              </a:rPr>
              <a:t>New numbers?</a:t>
            </a:r>
            <a:endParaRPr lang="en-US" sz="4680" dirty="0"/>
          </a:p>
          <a:p>
            <a:pPr algn="l">
              <a:lnSpc>
                <a:spcPts val="43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80" b="1" dirty="0">
                <a:solidFill>
                  <a:srgbClr val="3575EE"/>
                </a:solidFill>
                <a:latin typeface="Inter Tight"/>
                <a:ea typeface="Inter Tight"/>
                <a:cs typeface="Inter Tight"/>
              </a:rPr>
              <a:t>Same chart.</a:t>
            </a:r>
            <a:endParaRPr lang="en-US" sz="4680" dirty="0"/>
          </a:p>
        </p:txBody>
      </p:sp>
      <p:graphicFrame>
        <p:nvGraphicFramePr>
          <p:cNvPr id="24" name="campaign"/>
          <p:cNvGraphicFramePr>
            <a:graphicFrameLocks noGrp="1"/>
          </p:cNvGraphicFramePr>
          <p:nvPr/>
        </p:nvGraphicFramePr>
        <p:xfrm>
          <a:off x="533400" y="3429000"/>
          <a:ext cx="8077200" cy="2667000"/>
        </p:xfrm>
        <a:graphic>
          <a:graphicData uri="http://schemas.openxmlformats.org/drawingml/2006/chart">
            <c:chart xmlns:c="http://schemas.openxmlformats.org/drawingml/2006/chart" r:id="rIdChart1"/>
          </a:graphicData>
        </a:graphic>
      </p:graphicFrame>
      <p:sp>
        <p:nvSpPr>
          <p:cNvPr id="25" name="source"/>
          <p:cNvSpPr txBox="1"/>
          <p:nvPr/>
        </p:nvSpPr>
        <p:spPr>
          <a:xfrm>
            <a:off x="533400" y="6331148"/>
            <a:ext cx="6896100" cy="2220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752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Inter"/>
                <a:ea typeface="Inter"/>
                <a:cs typeface="Inter"/>
              </a:rPr>
              <a:t>Illustrative workflow data · Opens as a real PowerPoint chart · Made with Vixl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xl">
  <a:themeElements>
    <a:clrScheme name="Vixl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B2777"/>
      </a:accent2>
      <a:accent3>
        <a:srgbClr val="059669"/>
      </a:accent3>
      <a:accent4>
        <a:srgbClr val="D9770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Vix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ix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ixl">
  <a:themeElements>
    <a:clrScheme name="Vixl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B2777"/>
      </a:accent2>
      <a:accent3>
        <a:srgbClr val="059669"/>
      </a:accent3>
      <a:accent4>
        <a:srgbClr val="D9770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Vix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ix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Vixl</Application>
  <Slides>1</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DATA THAT STAYS EDITABLE</dc:title>
  <dc:creator>Vixl</dc:creator>
</cp:coreProperties>
</file>