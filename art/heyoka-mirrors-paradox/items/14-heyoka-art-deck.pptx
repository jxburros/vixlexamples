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09728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Heyoka: six modern lenses. Page 1. Public educational content; consult the reading-source notes.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Heyoka: six modern lenses. Page 2. Public educational content; consult the reading-source notes.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Heyoka: six modern lenses. Page 3. Public educational content; consult the reading-source notes.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Heyoka: six modern lenses. Page 4. Public educational content; consult the reading-source notes.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Heyoka: six modern lenses. Page 5. Public educational content; consult the reading-source notes.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Heyoka: six modern lenses. Page 6. Public educational content; consult the reading-source notes.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28625"/>
            <a:ext cx="96012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714500"/>
            <a:ext cx="96012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>
        <a:defRPr sz="2800" kern="12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-01">
    <p:bg>
      <p:bgPr>
        <a:solidFill>
          <a:srgbClr val="10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es"/>
          <p:cNvSpPr txBox="1"/>
          <p:nvPr/>
        </p:nvSpPr>
        <p:spPr>
          <a:xfrm>
            <a:off x="445770" y="322966"/>
            <a:ext cx="3257550" cy="1776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36"/>
              </a:lnSpc>
              <a:buNone/>
            </a:pPr>
            <a:r>
              <a:rPr lang="en-US" sz="1134" dirty="0">
                <a:solidFill>
                  <a:srgbClr val="9FECDF"/>
                </a:solidFill>
                <a:latin typeface="DejaVu Sans Mono"/>
                <a:ea typeface="DejaVu Sans Mono"/>
                <a:cs typeface="DejaVu Sans Mono"/>
              </a:rPr>
              <a:t>HEYOKA / MODERN ARCHETYPE / 01</a:t>
            </a:r>
            <a:endParaRPr lang="en-US" sz="1134" dirty="0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11480" y="725039"/>
            <a:ext cx="7183755" cy="5094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97"/>
              </a:lnSpc>
              <a:buNone/>
            </a:pPr>
            <a:r>
              <a:rPr lang="en-US" sz="3564" b="1" dirty="0">
                <a:solidFill>
                  <a:srgbClr val="F1EAFF"/>
                </a:solidFill>
                <a:latin typeface="DejaVu Sans"/>
                <a:ea typeface="DejaVu Sans"/>
                <a:cs typeface="DejaVu Sans"/>
              </a:rPr>
              <a:t>THE EMOTIONAL MIRROR</a:t>
            </a:r>
            <a:endParaRPr lang="en-US" sz="3564" dirty="0"/>
          </a:p>
        </p:txBody>
      </p:sp>
      <p:pic>
        <p:nvPicPr>
          <p:cNvPr id="4" name="art-0-surre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2125980"/>
            <a:ext cx="4834890" cy="3703320"/>
          </a:xfrm>
          <a:prstGeom prst="rect">
            <a:avLst/>
          </a:prstGeom>
        </p:spPr>
      </p:pic>
      <p:sp>
        <p:nvSpPr>
          <p:cNvPr id="5" name="art-0-bor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95569" y="2129409"/>
            <a:ext cx="4828032" cy="3696462"/>
          </a:xfrm>
          <a:prstGeom prst="rect">
            <a:avLst/>
          </a:prstGeom>
          <a:noFill/>
          <a:ln w="6858">
            <a:solidFill>
              <a:srgbClr val="9FECDF"/>
            </a:solidFill>
          </a:ln>
        </p:spPr>
      </p:sp>
      <p:sp>
        <p:nvSpPr>
          <p:cNvPr id="6" name="body"/>
          <p:cNvSpPr txBox="1"/>
          <p:nvPr/>
        </p:nvSpPr>
        <p:spPr>
          <a:xfrm>
            <a:off x="445770" y="2192592"/>
            <a:ext cx="5503545" cy="18947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1EAFF"/>
                </a:solidFill>
                <a:latin typeface="Noto Serif"/>
                <a:ea typeface="Noto Serif"/>
                <a:cs typeface="Noto Serif"/>
              </a:rPr>
              <a:t>In modern heyoka spirituality,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1EAFF"/>
                </a:solidFill>
                <a:latin typeface="Noto Serif"/>
                <a:ea typeface="Noto Serif"/>
                <a:cs typeface="Noto Serif"/>
              </a:rPr>
              <a:t>the mirror is the central image: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1EAFF"/>
                </a:solidFill>
                <a:latin typeface="Noto Serif"/>
                <a:ea typeface="Noto Serif"/>
                <a:cs typeface="Noto Serif"/>
              </a:rPr>
              <a:t>someone whose presence is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1EAFF"/>
                </a:solidFill>
                <a:latin typeface="Noto Serif"/>
                <a:ea typeface="Noto Serif"/>
                <a:cs typeface="Noto Serif"/>
              </a:rPr>
              <a:t>imagined to bring an unspoken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1EAFF"/>
                </a:solidFill>
                <a:latin typeface="Noto Serif"/>
                <a:ea typeface="Noto Serif"/>
                <a:cs typeface="Noto Serif"/>
              </a:rPr>
              <a:t>feeling into view.</a:t>
            </a:r>
            <a:endParaRPr lang="en-US" sz="2322" dirty="0"/>
          </a:p>
        </p:txBody>
      </p:sp>
      <p:sp>
        <p:nvSpPr>
          <p:cNvPr id="7" name="question"/>
          <p:cNvSpPr txBox="1"/>
          <p:nvPr/>
        </p:nvSpPr>
        <p:spPr>
          <a:xfrm>
            <a:off x="445770" y="4494877"/>
            <a:ext cx="5194935" cy="52517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9FECDF"/>
                </a:solidFill>
                <a:latin typeface="Noto Sans"/>
                <a:ea typeface="Noto Sans"/>
                <a:cs typeface="Noto Sans"/>
              </a:rPr>
              <a:t>What did I actually see—and what did I</a:t>
            </a:r>
            <a:endParaRPr lang="en-US" sz="1674" dirty="0"/>
          </a:p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9FECDF"/>
                </a:solidFill>
                <a:latin typeface="Noto Sans"/>
                <a:ea typeface="Noto Sans"/>
                <a:cs typeface="Noto Sans"/>
              </a:rPr>
              <a:t>add?</a:t>
            </a:r>
            <a:endParaRPr lang="en-US" sz="1674" dirty="0"/>
          </a:p>
        </p:txBody>
      </p:sp>
      <p:sp>
        <p:nvSpPr>
          <p:cNvPr id="8" name="footer"/>
          <p:cNvSpPr txBox="1"/>
          <p:nvPr/>
        </p:nvSpPr>
        <p:spPr>
          <a:xfrm>
            <a:off x="445770" y="6406257"/>
            <a:ext cx="6918007" cy="170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97"/>
              </a:lnSpc>
              <a:buNone/>
            </a:pPr>
            <a:r>
              <a:rPr lang="en-US" sz="1026" dirty="0">
                <a:solidFill>
                  <a:srgbClr val="F1EAFF"/>
                </a:solidFill>
                <a:latin typeface="Noto Sans"/>
                <a:ea typeface="Noto Sans"/>
                <a:cs typeface="Noto Sans"/>
              </a:rPr>
              <a:t>HEYOKA / A contemporary spiritual interpretation • Companion booklet: Mirrors &amp; Paradox</a:t>
            </a:r>
            <a:endParaRPr lang="en-US" sz="102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-02">
    <p:bg>
      <p:bgPr>
        <a:solidFill>
          <a:srgbClr val="21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es"/>
          <p:cNvSpPr txBox="1"/>
          <p:nvPr/>
        </p:nvSpPr>
        <p:spPr>
          <a:xfrm>
            <a:off x="445770" y="322966"/>
            <a:ext cx="3257550" cy="1776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36"/>
              </a:lnSpc>
              <a:buNone/>
            </a:pPr>
            <a:r>
              <a:rPr lang="en-US" sz="1134" dirty="0">
                <a:solidFill>
                  <a:srgbClr val="F0C878"/>
                </a:solidFill>
                <a:latin typeface="DejaVu Sans Mono"/>
                <a:ea typeface="DejaVu Sans Mono"/>
                <a:cs typeface="DejaVu Sans Mono"/>
              </a:rPr>
              <a:t>HEYOKA / MODERN ARCHETYPE / 02</a:t>
            </a:r>
            <a:endParaRPr lang="en-US" sz="1134" dirty="0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11480" y="725039"/>
            <a:ext cx="6146482" cy="5094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97"/>
              </a:lnSpc>
              <a:buNone/>
            </a:pPr>
            <a:r>
              <a:rPr lang="en-US" sz="3564" b="1" dirty="0">
                <a:solidFill>
                  <a:srgbClr val="FFF0D0"/>
                </a:solidFill>
                <a:latin typeface="DejaVu Sans"/>
                <a:ea typeface="DejaVu Sans"/>
                <a:cs typeface="DejaVu Sans"/>
              </a:rPr>
              <a:t>THE LIVING PARADOX</a:t>
            </a:r>
            <a:endParaRPr lang="en-US" sz="3564" dirty="0"/>
          </a:p>
        </p:txBody>
      </p:sp>
      <p:pic>
        <p:nvPicPr>
          <p:cNvPr id="4" name="art-1-surre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2125980"/>
            <a:ext cx="4834890" cy="3703320"/>
          </a:xfrm>
          <a:prstGeom prst="rect">
            <a:avLst/>
          </a:prstGeom>
        </p:spPr>
      </p:pic>
      <p:sp>
        <p:nvSpPr>
          <p:cNvPr id="5" name="art-1-bor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95569" y="2129409"/>
            <a:ext cx="4828032" cy="3696462"/>
          </a:xfrm>
          <a:prstGeom prst="rect">
            <a:avLst/>
          </a:prstGeom>
          <a:noFill/>
          <a:ln w="6858">
            <a:solidFill>
              <a:srgbClr val="F0C878"/>
            </a:solidFill>
          </a:ln>
        </p:spPr>
      </p:sp>
      <p:sp>
        <p:nvSpPr>
          <p:cNvPr id="6" name="body"/>
          <p:cNvSpPr txBox="1"/>
          <p:nvPr/>
        </p:nvSpPr>
        <p:spPr>
          <a:xfrm>
            <a:off x="445770" y="2192592"/>
            <a:ext cx="5563552" cy="18947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D0"/>
                </a:solidFill>
                <a:latin typeface="Noto Serif"/>
                <a:ea typeface="Noto Serif"/>
                <a:cs typeface="Noto Serif"/>
              </a:rPr>
              <a:t>The modern heyoka archetype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D0"/>
                </a:solidFill>
                <a:latin typeface="Noto Serif"/>
                <a:ea typeface="Noto Serif"/>
                <a:cs typeface="Noto Serif"/>
              </a:rPr>
              <a:t>holds opposites together: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D0"/>
                </a:solidFill>
                <a:latin typeface="Noto Serif"/>
                <a:ea typeface="Noto Serif"/>
                <a:cs typeface="Noto Serif"/>
              </a:rPr>
              <a:t>playful and perceptive, soft and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D0"/>
                </a:solidFill>
                <a:latin typeface="Noto Serif"/>
                <a:ea typeface="Noto Serif"/>
                <a:cs typeface="Noto Serif"/>
              </a:rPr>
              <a:t>confrontational, ridiculous and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D0"/>
                </a:solidFill>
                <a:latin typeface="Noto Serif"/>
                <a:ea typeface="Noto Serif"/>
                <a:cs typeface="Noto Serif"/>
              </a:rPr>
              <a:t>unexpectedly revealing.</a:t>
            </a:r>
            <a:endParaRPr lang="en-US" sz="2322" dirty="0"/>
          </a:p>
        </p:txBody>
      </p:sp>
      <p:sp>
        <p:nvSpPr>
          <p:cNvPr id="7" name="question"/>
          <p:cNvSpPr txBox="1"/>
          <p:nvPr/>
        </p:nvSpPr>
        <p:spPr>
          <a:xfrm>
            <a:off x="445770" y="4495940"/>
            <a:ext cx="5083492" cy="2360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F0C878"/>
                </a:solidFill>
                <a:latin typeface="Noto Sans"/>
                <a:ea typeface="Noto Sans"/>
                <a:cs typeface="Noto Sans"/>
              </a:rPr>
              <a:t>Can two truths share the same frame?</a:t>
            </a:r>
            <a:endParaRPr lang="en-US" sz="1674" dirty="0"/>
          </a:p>
        </p:txBody>
      </p:sp>
      <p:sp>
        <p:nvSpPr>
          <p:cNvPr id="8" name="footer"/>
          <p:cNvSpPr txBox="1"/>
          <p:nvPr/>
        </p:nvSpPr>
        <p:spPr>
          <a:xfrm>
            <a:off x="445770" y="6406257"/>
            <a:ext cx="6918007" cy="170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97"/>
              </a:lnSpc>
              <a:buNone/>
            </a:pPr>
            <a:r>
              <a:rPr lang="en-US" sz="1026" dirty="0">
                <a:solidFill>
                  <a:srgbClr val="FFF0D0"/>
                </a:solidFill>
                <a:latin typeface="Noto Sans"/>
                <a:ea typeface="Noto Sans"/>
                <a:cs typeface="Noto Sans"/>
              </a:rPr>
              <a:t>HEYOKA / A contemporary spiritual interpretation • Companion booklet: Mirrors &amp; Paradox</a:t>
            </a:r>
            <a:endParaRPr lang="en-US" sz="102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-03">
    <p:bg>
      <p:bgPr>
        <a:solidFill>
          <a:srgbClr val="291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es"/>
          <p:cNvSpPr txBox="1"/>
          <p:nvPr/>
        </p:nvSpPr>
        <p:spPr>
          <a:xfrm>
            <a:off x="445770" y="322966"/>
            <a:ext cx="3257550" cy="1776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36"/>
              </a:lnSpc>
              <a:buNone/>
            </a:pPr>
            <a:r>
              <a:rPr lang="en-US" sz="1134" dirty="0">
                <a:solidFill>
                  <a:srgbClr val="FFB9D6"/>
                </a:solidFill>
                <a:latin typeface="DejaVu Sans Mono"/>
                <a:ea typeface="DejaVu Sans Mono"/>
                <a:cs typeface="DejaVu Sans Mono"/>
              </a:rPr>
              <a:t>HEYOKA / MODERN ARCHETYPE / 03</a:t>
            </a:r>
            <a:endParaRPr lang="en-US" sz="1134" dirty="0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11480" y="725039"/>
            <a:ext cx="6566535" cy="5094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97"/>
              </a:lnSpc>
              <a:buNone/>
            </a:pPr>
            <a:r>
              <a:rPr lang="en-US" sz="3564" b="1" dirty="0">
                <a:solidFill>
                  <a:srgbClr val="FFF0E1"/>
                </a:solidFill>
                <a:latin typeface="DejaVu Sans"/>
                <a:ea typeface="DejaVu Sans"/>
                <a:cs typeface="DejaVu Sans"/>
              </a:rPr>
              <a:t>HUMOR THAT REVEALS</a:t>
            </a:r>
            <a:endParaRPr lang="en-US" sz="3564" dirty="0"/>
          </a:p>
        </p:txBody>
      </p:sp>
      <p:pic>
        <p:nvPicPr>
          <p:cNvPr id="4" name="art-2-surre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2125980"/>
            <a:ext cx="4834890" cy="3703320"/>
          </a:xfrm>
          <a:prstGeom prst="rect">
            <a:avLst/>
          </a:prstGeom>
        </p:spPr>
      </p:pic>
      <p:sp>
        <p:nvSpPr>
          <p:cNvPr id="5" name="art-2-bor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95569" y="2129409"/>
            <a:ext cx="4828032" cy="3696462"/>
          </a:xfrm>
          <a:prstGeom prst="rect">
            <a:avLst/>
          </a:prstGeom>
          <a:noFill/>
          <a:ln w="6858">
            <a:solidFill>
              <a:srgbClr val="FFB9D6"/>
            </a:solidFill>
          </a:ln>
        </p:spPr>
      </p:sp>
      <p:sp>
        <p:nvSpPr>
          <p:cNvPr id="6" name="body"/>
          <p:cNvSpPr txBox="1"/>
          <p:nvPr/>
        </p:nvSpPr>
        <p:spPr>
          <a:xfrm>
            <a:off x="445770" y="2192592"/>
            <a:ext cx="5366385" cy="18261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E1"/>
                </a:solidFill>
                <a:latin typeface="Noto Serif"/>
                <a:ea typeface="Noto Serif"/>
                <a:cs typeface="Noto Serif"/>
              </a:rPr>
              <a:t>In the modern heyoka image,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E1"/>
                </a:solidFill>
                <a:latin typeface="Noto Serif"/>
                <a:ea typeface="Noto Serif"/>
                <a:cs typeface="Noto Serif"/>
              </a:rPr>
              <a:t>humor works like a sideways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E1"/>
                </a:solidFill>
                <a:latin typeface="Noto Serif"/>
                <a:ea typeface="Noto Serif"/>
                <a:cs typeface="Noto Serif"/>
              </a:rPr>
              <a:t>entrance: the laugh arrives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E1"/>
                </a:solidFill>
                <a:latin typeface="Noto Serif"/>
                <a:ea typeface="Noto Serif"/>
                <a:cs typeface="Noto Serif"/>
              </a:rPr>
              <a:t>first, and recognition follows a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FF0E1"/>
                </a:solidFill>
                <a:latin typeface="Noto Serif"/>
                <a:ea typeface="Noto Serif"/>
                <a:cs typeface="Noto Serif"/>
              </a:rPr>
              <a:t>moment later.</a:t>
            </a:r>
            <a:endParaRPr lang="en-US" sz="2322" dirty="0"/>
          </a:p>
        </p:txBody>
      </p:sp>
      <p:sp>
        <p:nvSpPr>
          <p:cNvPr id="7" name="question"/>
          <p:cNvSpPr txBox="1"/>
          <p:nvPr/>
        </p:nvSpPr>
        <p:spPr>
          <a:xfrm>
            <a:off x="445770" y="4494877"/>
            <a:ext cx="5417820" cy="52517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FFB9D6"/>
                </a:solidFill>
                <a:latin typeface="Noto Sans"/>
                <a:ea typeface="Noto Sans"/>
                <a:cs typeface="Noto Sans"/>
              </a:rPr>
              <a:t>Did the laugh reveal a pattern—or hide a</a:t>
            </a:r>
            <a:endParaRPr lang="en-US" sz="1674" dirty="0"/>
          </a:p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FFB9D6"/>
                </a:solidFill>
                <a:latin typeface="Noto Sans"/>
                <a:ea typeface="Noto Sans"/>
                <a:cs typeface="Noto Sans"/>
              </a:rPr>
              <a:t>criticism?</a:t>
            </a:r>
            <a:endParaRPr lang="en-US" sz="1674" dirty="0"/>
          </a:p>
        </p:txBody>
      </p:sp>
      <p:sp>
        <p:nvSpPr>
          <p:cNvPr id="8" name="footer"/>
          <p:cNvSpPr txBox="1"/>
          <p:nvPr/>
        </p:nvSpPr>
        <p:spPr>
          <a:xfrm>
            <a:off x="445770" y="6406257"/>
            <a:ext cx="6918007" cy="170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97"/>
              </a:lnSpc>
              <a:buNone/>
            </a:pPr>
            <a:r>
              <a:rPr lang="en-US" sz="1026" dirty="0">
                <a:solidFill>
                  <a:srgbClr val="FFF0E1"/>
                </a:solidFill>
                <a:latin typeface="Noto Sans"/>
                <a:ea typeface="Noto Sans"/>
                <a:cs typeface="Noto Sans"/>
              </a:rPr>
              <a:t>HEYOKA / A contemporary spiritual interpretation • Companion booklet: Mirrors &amp; Paradox</a:t>
            </a:r>
            <a:endParaRPr lang="en-US" sz="102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-04">
    <p:bg>
      <p:bgPr>
        <a:solidFill>
          <a:srgbClr val="17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es"/>
          <p:cNvSpPr txBox="1"/>
          <p:nvPr/>
        </p:nvSpPr>
        <p:spPr>
          <a:xfrm>
            <a:off x="445770" y="322966"/>
            <a:ext cx="3257550" cy="1776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36"/>
              </a:lnSpc>
              <a:buNone/>
            </a:pPr>
            <a:r>
              <a:rPr lang="en-US" sz="1134" dirty="0">
                <a:solidFill>
                  <a:srgbClr val="E2AA91"/>
                </a:solidFill>
                <a:latin typeface="DejaVu Sans Mono"/>
                <a:ea typeface="DejaVu Sans Mono"/>
                <a:cs typeface="DejaVu Sans Mono"/>
              </a:rPr>
              <a:t>HEYOKA / MODERN ARCHETYPE / 04</a:t>
            </a:r>
            <a:endParaRPr lang="en-US" sz="1134" dirty="0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11480" y="725039"/>
            <a:ext cx="6386512" cy="5094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97"/>
              </a:lnSpc>
              <a:buNone/>
            </a:pPr>
            <a:r>
              <a:rPr lang="en-US" sz="3564" b="1" dirty="0">
                <a:solidFill>
                  <a:srgbClr val="EEE3ED"/>
                </a:solidFill>
                <a:latin typeface="DejaVu Sans"/>
                <a:ea typeface="DejaVu Sans"/>
                <a:cs typeface="DejaVu Sans"/>
              </a:rPr>
              <a:t>THE SHADOW MIRROR</a:t>
            </a:r>
            <a:endParaRPr lang="en-US" sz="3564" dirty="0"/>
          </a:p>
        </p:txBody>
      </p:sp>
      <p:pic>
        <p:nvPicPr>
          <p:cNvPr id="4" name="art-3-surre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2125980"/>
            <a:ext cx="4834890" cy="3703320"/>
          </a:xfrm>
          <a:prstGeom prst="rect">
            <a:avLst/>
          </a:prstGeom>
        </p:spPr>
      </p:pic>
      <p:sp>
        <p:nvSpPr>
          <p:cNvPr id="5" name="art-3-bor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95569" y="2129409"/>
            <a:ext cx="4828032" cy="3696462"/>
          </a:xfrm>
          <a:prstGeom prst="rect">
            <a:avLst/>
          </a:prstGeom>
          <a:noFill/>
          <a:ln w="6858">
            <a:solidFill>
              <a:srgbClr val="E2AA91"/>
            </a:solidFill>
          </a:ln>
        </p:spPr>
      </p:sp>
      <p:sp>
        <p:nvSpPr>
          <p:cNvPr id="6" name="body"/>
          <p:cNvSpPr txBox="1"/>
          <p:nvPr/>
        </p:nvSpPr>
        <p:spPr>
          <a:xfrm>
            <a:off x="445770" y="2192592"/>
            <a:ext cx="5272087" cy="18947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EE3ED"/>
                </a:solidFill>
                <a:latin typeface="Noto Serif"/>
                <a:ea typeface="Noto Serif"/>
                <a:cs typeface="Noto Serif"/>
              </a:rPr>
              <a:t>Modern spiritual language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EE3ED"/>
                </a:solidFill>
                <a:latin typeface="Noto Serif"/>
                <a:ea typeface="Noto Serif"/>
                <a:cs typeface="Noto Serif"/>
              </a:rPr>
              <a:t>connects heyoka with shadow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EE3ED"/>
                </a:solidFill>
                <a:latin typeface="Noto Serif"/>
                <a:ea typeface="Noto Serif"/>
                <a:cs typeface="Noto Serif"/>
              </a:rPr>
              <a:t>work: noticing qualities we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EE3ED"/>
                </a:solidFill>
                <a:latin typeface="Noto Serif"/>
                <a:ea typeface="Noto Serif"/>
                <a:cs typeface="Noto Serif"/>
              </a:rPr>
              <a:t>disown, project, or struggle to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EE3ED"/>
                </a:solidFill>
                <a:latin typeface="Noto Serif"/>
                <a:ea typeface="Noto Serif"/>
                <a:cs typeface="Noto Serif"/>
              </a:rPr>
              <a:t>recognize in ourselves.</a:t>
            </a:r>
            <a:endParaRPr lang="en-US" sz="2322" dirty="0"/>
          </a:p>
        </p:txBody>
      </p:sp>
      <p:sp>
        <p:nvSpPr>
          <p:cNvPr id="7" name="question"/>
          <p:cNvSpPr txBox="1"/>
          <p:nvPr/>
        </p:nvSpPr>
        <p:spPr>
          <a:xfrm>
            <a:off x="445770" y="4494877"/>
            <a:ext cx="5529262" cy="52517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E2AA91"/>
                </a:solidFill>
                <a:latin typeface="Noto Sans"/>
                <a:ea typeface="Noto Sans"/>
                <a:cs typeface="Noto Sans"/>
              </a:rPr>
              <a:t>Why did this particular moment stay with</a:t>
            </a:r>
            <a:endParaRPr lang="en-US" sz="1674" dirty="0"/>
          </a:p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E2AA91"/>
                </a:solidFill>
                <a:latin typeface="Noto Sans"/>
                <a:ea typeface="Noto Sans"/>
                <a:cs typeface="Noto Sans"/>
              </a:rPr>
              <a:t>me?</a:t>
            </a:r>
            <a:endParaRPr lang="en-US" sz="1674" dirty="0"/>
          </a:p>
        </p:txBody>
      </p:sp>
      <p:sp>
        <p:nvSpPr>
          <p:cNvPr id="8" name="footer"/>
          <p:cNvSpPr txBox="1"/>
          <p:nvPr/>
        </p:nvSpPr>
        <p:spPr>
          <a:xfrm>
            <a:off x="445770" y="6406257"/>
            <a:ext cx="6918007" cy="170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97"/>
              </a:lnSpc>
              <a:buNone/>
            </a:pPr>
            <a:r>
              <a:rPr lang="en-US" sz="1026" dirty="0">
                <a:solidFill>
                  <a:srgbClr val="EEE3ED"/>
                </a:solidFill>
                <a:latin typeface="Noto Sans"/>
                <a:ea typeface="Noto Sans"/>
                <a:cs typeface="Noto Sans"/>
              </a:rPr>
              <a:t>HEYOKA / A contemporary spiritual interpretation • Companion booklet: Mirrors &amp; Paradox</a:t>
            </a:r>
            <a:endParaRPr lang="en-US" sz="102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-05">
    <p:bg>
      <p:bgPr>
        <a:solidFill>
          <a:srgbClr val="0F2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es"/>
          <p:cNvSpPr txBox="1"/>
          <p:nvPr/>
        </p:nvSpPr>
        <p:spPr>
          <a:xfrm>
            <a:off x="445770" y="322966"/>
            <a:ext cx="3257550" cy="1776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36"/>
              </a:lnSpc>
              <a:buNone/>
            </a:pPr>
            <a:r>
              <a:rPr lang="en-US" sz="1134" dirty="0">
                <a:solidFill>
                  <a:srgbClr val="8FE0D2"/>
                </a:solidFill>
                <a:latin typeface="DejaVu Sans Mono"/>
                <a:ea typeface="DejaVu Sans Mono"/>
                <a:cs typeface="DejaVu Sans Mono"/>
              </a:rPr>
              <a:t>HEYOKA / MODERN ARCHETYPE / 05</a:t>
            </a:r>
            <a:endParaRPr lang="en-US" sz="1134" dirty="0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11480" y="719072"/>
            <a:ext cx="6677977" cy="5085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97"/>
              </a:lnSpc>
              <a:buNone/>
            </a:pPr>
            <a:r>
              <a:rPr lang="en-US" sz="3564" b="1" dirty="0">
                <a:solidFill>
                  <a:srgbClr val="E8F3FF"/>
                </a:solidFill>
                <a:latin typeface="DejaVu Sans"/>
                <a:ea typeface="DejaVu Sans"/>
                <a:cs typeface="DejaVu Sans"/>
              </a:rPr>
              <a:t>THE PATTERN BREAKER</a:t>
            </a:r>
            <a:endParaRPr lang="en-US" sz="3564" dirty="0"/>
          </a:p>
        </p:txBody>
      </p:sp>
      <p:pic>
        <p:nvPicPr>
          <p:cNvPr id="4" name="art-4-surre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2125980"/>
            <a:ext cx="4834890" cy="3703320"/>
          </a:xfrm>
          <a:prstGeom prst="rect">
            <a:avLst/>
          </a:prstGeom>
        </p:spPr>
      </p:pic>
      <p:sp>
        <p:nvSpPr>
          <p:cNvPr id="5" name="art-4-bor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95569" y="2129409"/>
            <a:ext cx="4828032" cy="3696462"/>
          </a:xfrm>
          <a:prstGeom prst="rect">
            <a:avLst/>
          </a:prstGeom>
          <a:noFill/>
          <a:ln w="6858">
            <a:solidFill>
              <a:srgbClr val="8FE0D2"/>
            </a:solidFill>
          </a:ln>
        </p:spPr>
      </p:sp>
      <p:sp>
        <p:nvSpPr>
          <p:cNvPr id="6" name="body"/>
          <p:cNvSpPr txBox="1"/>
          <p:nvPr/>
        </p:nvSpPr>
        <p:spPr>
          <a:xfrm>
            <a:off x="445770" y="2192592"/>
            <a:ext cx="5374957" cy="18947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8F3FF"/>
                </a:solidFill>
                <a:latin typeface="Noto Serif"/>
                <a:ea typeface="Noto Serif"/>
                <a:cs typeface="Noto Serif"/>
              </a:rPr>
              <a:t>The modern heyoka archetype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8F3FF"/>
                </a:solidFill>
                <a:latin typeface="Noto Serif"/>
                <a:ea typeface="Noto Serif"/>
                <a:cs typeface="Noto Serif"/>
              </a:rPr>
              <a:t>is imagined as a pattern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8F3FF"/>
                </a:solidFill>
                <a:latin typeface="Noto Serif"/>
                <a:ea typeface="Noto Serif"/>
                <a:cs typeface="Noto Serif"/>
              </a:rPr>
              <a:t>breaker: an unexpected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8F3FF"/>
                </a:solidFill>
                <a:latin typeface="Noto Serif"/>
                <a:ea typeface="Noto Serif"/>
                <a:cs typeface="Noto Serif"/>
              </a:rPr>
              <a:t>presence that interrupts the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E8F3FF"/>
                </a:solidFill>
                <a:latin typeface="Noto Serif"/>
                <a:ea typeface="Noto Serif"/>
                <a:cs typeface="Noto Serif"/>
              </a:rPr>
              <a:t>usual script of a conversation.</a:t>
            </a:r>
            <a:endParaRPr lang="en-US" sz="2322" dirty="0"/>
          </a:p>
        </p:txBody>
      </p:sp>
      <p:sp>
        <p:nvSpPr>
          <p:cNvPr id="7" name="question"/>
          <p:cNvSpPr txBox="1"/>
          <p:nvPr/>
        </p:nvSpPr>
        <p:spPr>
          <a:xfrm>
            <a:off x="445770" y="4494877"/>
            <a:ext cx="5083492" cy="5731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8FE0D2"/>
                </a:solidFill>
                <a:latin typeface="Noto Sans"/>
                <a:ea typeface="Noto Sans"/>
                <a:cs typeface="Noto Sans"/>
              </a:rPr>
              <a:t>What became possible when the usual</a:t>
            </a:r>
            <a:endParaRPr lang="en-US" sz="1674" dirty="0"/>
          </a:p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8FE0D2"/>
                </a:solidFill>
                <a:latin typeface="Noto Sans"/>
                <a:ea typeface="Noto Sans"/>
                <a:cs typeface="Noto Sans"/>
              </a:rPr>
              <a:t>response stopped?</a:t>
            </a:r>
            <a:endParaRPr lang="en-US" sz="1674" dirty="0"/>
          </a:p>
        </p:txBody>
      </p:sp>
      <p:sp>
        <p:nvSpPr>
          <p:cNvPr id="8" name="footer"/>
          <p:cNvSpPr txBox="1"/>
          <p:nvPr/>
        </p:nvSpPr>
        <p:spPr>
          <a:xfrm>
            <a:off x="445770" y="6406257"/>
            <a:ext cx="6918007" cy="170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97"/>
              </a:lnSpc>
              <a:buNone/>
            </a:pPr>
            <a:r>
              <a:rPr lang="en-US" sz="1026" dirty="0">
                <a:solidFill>
                  <a:srgbClr val="E8F3FF"/>
                </a:solidFill>
                <a:latin typeface="Noto Sans"/>
                <a:ea typeface="Noto Sans"/>
                <a:cs typeface="Noto Sans"/>
              </a:rPr>
              <a:t>HEYOKA / A contemporary spiritual interpretation • Companion booklet: Mirrors &amp; Paradox</a:t>
            </a:r>
            <a:endParaRPr lang="en-US" sz="102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-06">
    <p:bg>
      <p:bgPr>
        <a:solidFill>
          <a:srgbClr val="173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es"/>
          <p:cNvSpPr txBox="1"/>
          <p:nvPr/>
        </p:nvSpPr>
        <p:spPr>
          <a:xfrm>
            <a:off x="445770" y="322966"/>
            <a:ext cx="3257550" cy="1776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36"/>
              </a:lnSpc>
              <a:buNone/>
            </a:pPr>
            <a:r>
              <a:rPr lang="en-US" sz="1134" dirty="0">
                <a:solidFill>
                  <a:srgbClr val="EFD09A"/>
                </a:solidFill>
                <a:latin typeface="DejaVu Sans Mono"/>
                <a:ea typeface="DejaVu Sans Mono"/>
                <a:cs typeface="DejaVu Sans Mono"/>
              </a:rPr>
              <a:t>HEYOKA / MODERN ARCHETYPE / 06</a:t>
            </a:r>
            <a:endParaRPr lang="en-US" sz="1134" dirty="0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11480" y="725039"/>
            <a:ext cx="7055167" cy="5094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97"/>
              </a:lnSpc>
              <a:buNone/>
            </a:pPr>
            <a:r>
              <a:rPr lang="en-US" sz="3564" b="1" dirty="0">
                <a:solidFill>
                  <a:srgbClr val="F5EDDB"/>
                </a:solidFill>
                <a:latin typeface="DejaVu Sans"/>
                <a:ea typeface="DejaVu Sans"/>
                <a:cs typeface="DejaVu Sans"/>
              </a:rPr>
              <a:t>THE GROUNDED MIRROR</a:t>
            </a:r>
            <a:endParaRPr lang="en-US" sz="3564" dirty="0"/>
          </a:p>
        </p:txBody>
      </p:sp>
      <p:pic>
        <p:nvPicPr>
          <p:cNvPr id="4" name="art-5-surre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2125980"/>
            <a:ext cx="4834890" cy="3703320"/>
          </a:xfrm>
          <a:prstGeom prst="rect">
            <a:avLst/>
          </a:prstGeom>
        </p:spPr>
      </p:pic>
      <p:sp>
        <p:nvSpPr>
          <p:cNvPr id="5" name="art-5-bor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95569" y="2129409"/>
            <a:ext cx="4828032" cy="3696462"/>
          </a:xfrm>
          <a:prstGeom prst="rect">
            <a:avLst/>
          </a:prstGeom>
          <a:noFill/>
          <a:ln w="6858">
            <a:solidFill>
              <a:srgbClr val="EFD09A"/>
            </a:solidFill>
          </a:ln>
        </p:spPr>
      </p:sp>
      <p:sp>
        <p:nvSpPr>
          <p:cNvPr id="6" name="body"/>
          <p:cNvSpPr txBox="1"/>
          <p:nvPr/>
        </p:nvSpPr>
        <p:spPr>
          <a:xfrm>
            <a:off x="445770" y="2192592"/>
            <a:ext cx="5460682" cy="22033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5EDDB"/>
                </a:solidFill>
                <a:latin typeface="Noto Serif"/>
                <a:ea typeface="Noto Serif"/>
                <a:cs typeface="Noto Serif"/>
              </a:rPr>
              <a:t>A grounded modern heyoka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5EDDB"/>
                </a:solidFill>
                <a:latin typeface="Noto Serif"/>
                <a:ea typeface="Noto Serif"/>
                <a:cs typeface="Noto Serif"/>
              </a:rPr>
              <a:t>interpretation keeps emotional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5EDDB"/>
                </a:solidFill>
                <a:latin typeface="Noto Serif"/>
                <a:ea typeface="Noto Serif"/>
                <a:cs typeface="Noto Serif"/>
              </a:rPr>
              <a:t>mirroring connected to care: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5EDDB"/>
                </a:solidFill>
                <a:latin typeface="Noto Serif"/>
                <a:ea typeface="Noto Serif"/>
                <a:cs typeface="Noto Serif"/>
              </a:rPr>
              <a:t>the other person remains a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5EDDB"/>
                </a:solidFill>
                <a:latin typeface="Noto Serif"/>
                <a:ea typeface="Noto Serif"/>
                <a:cs typeface="Noto Serif"/>
              </a:rPr>
              <a:t>person, not material for a</a:t>
            </a:r>
            <a:endParaRPr lang="en-US" sz="2322" dirty="0"/>
          </a:p>
          <a:p>
            <a:pPr algn="l">
              <a:lnSpc>
                <a:spcPts val="3001"/>
              </a:lnSpc>
              <a:buNone/>
            </a:pPr>
            <a:r>
              <a:rPr lang="en-US" sz="2322" dirty="0">
                <a:solidFill>
                  <a:srgbClr val="F5EDDB"/>
                </a:solidFill>
                <a:latin typeface="Noto Serif"/>
                <a:ea typeface="Noto Serif"/>
                <a:cs typeface="Noto Serif"/>
              </a:rPr>
              <a:t>lesson.</a:t>
            </a:r>
            <a:endParaRPr lang="en-US" sz="2322" dirty="0"/>
          </a:p>
        </p:txBody>
      </p:sp>
      <p:sp>
        <p:nvSpPr>
          <p:cNvPr id="7" name="question"/>
          <p:cNvSpPr txBox="1"/>
          <p:nvPr/>
        </p:nvSpPr>
        <p:spPr>
          <a:xfrm>
            <a:off x="445770" y="4494877"/>
            <a:ext cx="5323522" cy="52517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EFD09A"/>
                </a:solidFill>
                <a:latin typeface="Noto Sans"/>
                <a:ea typeface="Noto Sans"/>
                <a:cs typeface="Noto Sans"/>
              </a:rPr>
              <a:t>Can I stay curious without deciding who</a:t>
            </a:r>
            <a:endParaRPr lang="en-US" sz="1674" dirty="0"/>
          </a:p>
          <a:p>
            <a:pPr algn="l">
              <a:lnSpc>
                <a:spcPts val="2280"/>
              </a:lnSpc>
              <a:buNone/>
            </a:pPr>
            <a:r>
              <a:rPr lang="en-US" sz="1674" b="1" dirty="0">
                <a:solidFill>
                  <a:srgbClr val="EFD09A"/>
                </a:solidFill>
                <a:latin typeface="Noto Sans"/>
                <a:ea typeface="Noto Sans"/>
                <a:cs typeface="Noto Sans"/>
              </a:rPr>
              <a:t>someone is?</a:t>
            </a:r>
            <a:endParaRPr lang="en-US" sz="1674" dirty="0"/>
          </a:p>
        </p:txBody>
      </p:sp>
      <p:sp>
        <p:nvSpPr>
          <p:cNvPr id="8" name="footer"/>
          <p:cNvSpPr txBox="1"/>
          <p:nvPr/>
        </p:nvSpPr>
        <p:spPr>
          <a:xfrm>
            <a:off x="445770" y="6406257"/>
            <a:ext cx="6918007" cy="170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97"/>
              </a:lnSpc>
              <a:buNone/>
            </a:pPr>
            <a:r>
              <a:rPr lang="en-US" sz="1026" dirty="0">
                <a:solidFill>
                  <a:srgbClr val="F5EDDB"/>
                </a:solidFill>
                <a:latin typeface="Noto Sans"/>
                <a:ea typeface="Noto Sans"/>
                <a:cs typeface="Noto Sans"/>
              </a:rPr>
              <a:t>HEYOKA / A contemporary spiritual interpretation • Companion booklet: Mirrors &amp; Paradox</a:t>
            </a:r>
            <a:endParaRPr lang="en-US" sz="102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Vixl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HEYOKA / MODERN ARCHETYPE / 06</dc:title>
  <dc:creator>Vixl</dc:creator>
</cp:coreProperties>
</file>